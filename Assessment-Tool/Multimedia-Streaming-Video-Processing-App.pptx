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B658B-0647-4086-95AB-C9B939A2E8D9}" type="datetimeFigureOut"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4BB62-C16A-4758-8006-7DF3E8107B0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861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 /><Relationship Id="rId3" Type="http://schemas.openxmlformats.org/officeDocument/2006/relationships/image" Target="../media/image2.png" /><Relationship Id="rId7" Type="http://schemas.openxmlformats.org/officeDocument/2006/relationships/image" Target="../media/image7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6.png" /><Relationship Id="rId5" Type="http://schemas.openxmlformats.org/officeDocument/2006/relationships/image" Target="../media/image5.png" /><Relationship Id="rId4" Type="http://schemas.openxmlformats.org/officeDocument/2006/relationships/image" Target="../media/image3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 /><Relationship Id="rId3" Type="http://schemas.openxmlformats.org/officeDocument/2006/relationships/image" Target="../media/image2.png" /><Relationship Id="rId7" Type="http://schemas.openxmlformats.org/officeDocument/2006/relationships/image" Target="../media/image11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0.png" /><Relationship Id="rId5" Type="http://schemas.openxmlformats.org/officeDocument/2006/relationships/image" Target="../media/image9.png" /><Relationship Id="rId4" Type="http://schemas.openxmlformats.org/officeDocument/2006/relationships/image" Target="../media/image3.png" /><Relationship Id="rId9" Type="http://schemas.openxmlformats.org/officeDocument/2006/relationships/image" Target="../media/image4.png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 /><Relationship Id="rId3" Type="http://schemas.openxmlformats.org/officeDocument/2006/relationships/image" Target="../media/image2.png" /><Relationship Id="rId7" Type="http://schemas.openxmlformats.org/officeDocument/2006/relationships/image" Target="../media/image13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5" Type="http://schemas.openxmlformats.org/officeDocument/2006/relationships/image" Target="../media/image9.png" /><Relationship Id="rId10" Type="http://schemas.openxmlformats.org/officeDocument/2006/relationships/image" Target="../media/image16.png" /><Relationship Id="rId4" Type="http://schemas.openxmlformats.org/officeDocument/2006/relationships/image" Target="../media/image3.png" /><Relationship Id="rId9" Type="http://schemas.openxmlformats.org/officeDocument/2006/relationships/image" Target="../media/image15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7.png" /><Relationship Id="rId4" Type="http://schemas.openxmlformats.org/officeDocument/2006/relationships/image" Target="../media/image3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3.png" /><Relationship Id="rId4" Type="http://schemas.openxmlformats.org/officeDocument/2006/relationships/image" Target="../media/image3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8.png" /><Relationship Id="rId4" Type="http://schemas.openxmlformats.org/officeDocument/2006/relationships/image" Target="../media/image3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7" Type="http://schemas.openxmlformats.org/officeDocument/2006/relationships/image" Target="../media/image21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0.png" /><Relationship Id="rId5" Type="http://schemas.openxmlformats.org/officeDocument/2006/relationships/image" Target="../media/image19.png" /><Relationship Id="rId4" Type="http://schemas.openxmlformats.org/officeDocument/2006/relationships/image" Target="../media/image3.pn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22.png" /><Relationship Id="rId4" Type="http://schemas.openxmlformats.org/officeDocument/2006/relationships/image" Target="../media/image3.pn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MATS banner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11612880" cy="175528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1031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[COURSE CODE] – [COURSE NAME]</a:t>
            </a:r>
            <a:endParaRPr lang="en-US" sz="3000"/>
          </a:p>
        </p:txBody>
      </p:sp>
      <p:sp>
        <p:nvSpPr>
          <p:cNvPr id="4" name="Text 1"/>
          <p:cNvSpPr txBox="1"/>
          <p:nvPr/>
        </p:nvSpPr>
        <p:spPr>
          <a:xfrm>
            <a:off x="731520" y="27889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TITLE</a:t>
            </a:r>
            <a:endParaRPr lang="en-US" sz="2800"/>
          </a:p>
        </p:txBody>
      </p:sp>
      <p:sp>
        <p:nvSpPr>
          <p:cNvPr id="5" name="Text 2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“Multimedia Streaming &amp; Video Processing App (Android &amp; iOS)”</a:t>
            </a:r>
            <a:endParaRPr lang="en-US" sz="3600"/>
          </a:p>
        </p:txBody>
      </p:sp>
      <p:sp>
        <p:nvSpPr>
          <p:cNvPr id="6" name="Text 3"/>
          <p:cNvSpPr txBox="1"/>
          <p:nvPr/>
        </p:nvSpPr>
        <p:spPr>
          <a:xfrm>
            <a:off x="731520" y="48463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</a:t>
            </a:r>
            <a:endParaRPr lang="en-US" sz="1800"/>
          </a:p>
          <a:p>
            <a:pPr>
              <a:spcAft>
                <a:spcPts val="600"/>
              </a:spcAft>
            </a:pPr>
            <a:r>
              <a:rPr lang="en-US" b="1">
                <a:solidFill>
                  <a:srgbClr val="000000"/>
                </a:solidFill>
                <a:latin typeface="Times New Roman"/>
                <a:ea typeface="Times New Roman" pitchFamily="34" charset="-122"/>
                <a:cs typeface="Times New Roman"/>
              </a:rPr>
              <a:t>[PRANAV]</a:t>
            </a:r>
            <a:r>
              <a:rPr lang="en-US" sz="1800" b="1">
                <a:solidFill>
                  <a:srgbClr val="000000"/>
                </a:solidFill>
                <a:latin typeface="Times New Roman"/>
                <a:ea typeface="Times New Roman" pitchFamily="34" charset="-122"/>
                <a:cs typeface="Times New Roman"/>
              </a:rPr>
              <a:t> ([Reg. No.])</a:t>
            </a:r>
            <a:endParaRPr lang="en-US" sz="1800">
              <a:latin typeface="Times New Roman"/>
              <a:ea typeface="Calibri"/>
              <a:cs typeface="Calibri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b="1">
                <a:solidFill>
                  <a:srgbClr val="000000"/>
                </a:solidFill>
                <a:latin typeface="Times New Roman"/>
                <a:ea typeface="Times New Roman" pitchFamily="34" charset="-122"/>
                <a:cs typeface="Times New Roman"/>
              </a:rPr>
              <a:t>[Bharani]</a:t>
            </a:r>
            <a:r>
              <a:rPr lang="en-US" sz="1800" b="1">
                <a:solidFill>
                  <a:srgbClr val="000000"/>
                </a:solidFill>
                <a:latin typeface="Times New Roman"/>
                <a:ea typeface="Times New Roman" pitchFamily="34" charset="-122"/>
                <a:cs typeface="Times New Roman"/>
              </a:rPr>
              <a:t> ([Reg. No.])</a:t>
            </a:r>
            <a:endParaRPr lang="en-US" sz="1800">
              <a:latin typeface="Times New Roman"/>
              <a:cs typeface="Times New Roman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b="1">
                <a:solidFill>
                  <a:srgbClr val="000000"/>
                </a:solidFill>
                <a:latin typeface="Times New Roman"/>
                <a:ea typeface="Times New Roman" pitchFamily="34" charset="-122"/>
                <a:cs typeface="Times New Roman"/>
              </a:rPr>
              <a:t>[AJAY]</a:t>
            </a:r>
            <a:r>
              <a:rPr lang="en-US" sz="1800" b="1">
                <a:solidFill>
                  <a:srgbClr val="000000"/>
                </a:solidFill>
                <a:latin typeface="Times New Roman"/>
                <a:ea typeface="Times New Roman" pitchFamily="34" charset="-122"/>
                <a:cs typeface="Times New Roman"/>
              </a:rPr>
              <a:t> ([Reg. No.])</a:t>
            </a:r>
            <a:endParaRPr lang="en-US" sz="1800">
              <a:latin typeface="Times New Roman"/>
              <a:cs typeface="Times New Roman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589520" y="48463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60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GUIDED BY</a:t>
            </a:r>
            <a:endParaRPr lang="en-US" sz="1800"/>
          </a:p>
          <a:p>
            <a:pPr marL="0" indent="0" algn="r">
              <a:spcAft>
                <a:spcPts val="600"/>
              </a:spcAft>
              <a:buNone/>
            </a:pPr>
            <a:r>
              <a:rPr lang="en-US" b="1">
                <a:solidFill>
                  <a:srgbClr val="000000"/>
                </a:solidFill>
                <a:latin typeface="Times New Roman"/>
                <a:cs typeface="Times New Roman"/>
              </a:rPr>
              <a:t>[]</a:t>
            </a:r>
            <a:endParaRPr lang="en-US"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S logo" descr="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640080" cy="1005840"/>
          </a:xfrm>
          <a:prstGeom prst="rect">
            <a:avLst/>
          </a:prstGeom>
        </p:spPr>
      </p:pic>
      <p:pic>
        <p:nvPicPr>
          <p:cNvPr id="3" name="SIMATS seal" descr="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28600"/>
            <a:ext cx="914400" cy="9144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743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3600"/>
          </a:p>
        </p:txBody>
      </p:sp>
      <p:sp>
        <p:nvSpPr>
          <p:cNvPr id="5" name="Text 1"/>
          <p:cNvSpPr txBox="1"/>
          <p:nvPr/>
        </p:nvSpPr>
        <p:spPr>
          <a:xfrm>
            <a:off x="731520" y="1463040"/>
            <a:ext cx="7498080" cy="4846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project is a mobile app for Android and iOS that lets users watch videos and music online (streaming).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app also processes videos: it compresses them, changes their format and creates smaller versions for slow internet.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video quality adjusts automatically to the user’s internet speed, so playback does not keep stopping.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 can upload, search, play, pause and download media from one simple app.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Purpose: smooth, fast and easy video viewing on any phone.</a:t>
            </a:r>
            <a:endParaRPr lang="en-US" sz="2200"/>
          </a:p>
        </p:txBody>
      </p:sp>
      <p:sp>
        <p:nvSpPr>
          <p:cNvPr id="6" name="Play circle"/>
          <p:cNvSpPr/>
          <p:nvPr/>
        </p:nvSpPr>
        <p:spPr>
          <a:xfrm>
            <a:off x="8778240" y="2377440"/>
            <a:ext cx="2743200" cy="2743200"/>
          </a:xfrm>
          <a:prstGeom prst="ellipse">
            <a:avLst/>
          </a:prstGeom>
          <a:solidFill>
            <a:srgbClr val="0B4F9C"/>
          </a:solidFill>
          <a:ln w="12700">
            <a:solidFill>
              <a:srgbClr val="0B4F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Play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3063240"/>
            <a:ext cx="1371600" cy="13716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321040" y="5303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E86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 • Process • Play</a:t>
            </a:r>
            <a:endParaRPr 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S logo" descr="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640080" cy="1005840"/>
          </a:xfrm>
          <a:prstGeom prst="rect">
            <a:avLst/>
          </a:prstGeom>
        </p:spPr>
      </p:pic>
      <p:pic>
        <p:nvPicPr>
          <p:cNvPr id="3" name="SIMATS seal" descr="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28600"/>
            <a:ext cx="914400" cy="9144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743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3600"/>
          </a:p>
        </p:txBody>
      </p:sp>
      <p:sp>
        <p:nvSpPr>
          <p:cNvPr id="5" name="Text 1"/>
          <p:cNvSpPr txBox="1"/>
          <p:nvPr/>
        </p:nvSpPr>
        <p:spPr>
          <a:xfrm>
            <a:off x="731520" y="1463040"/>
            <a:ext cx="1097280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Streaming means watching a video while it is downloading, without waiting for the whole file.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Video processing means editing a video file – for example, making it smaller (compression) or changing its type (MP4, etc.).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app joins both: it prepares videos on a server and streams them to Android and iOS phones.</a:t>
            </a:r>
            <a:endParaRPr lang="en-US" sz="2200"/>
          </a:p>
        </p:txBody>
      </p:sp>
      <p:sp>
        <p:nvSpPr>
          <p:cNvPr id="6" name="Text 2"/>
          <p:cNvSpPr txBox="1"/>
          <p:nvPr/>
        </p:nvSpPr>
        <p:spPr>
          <a:xfrm>
            <a:off x="73152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B4F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it important?</a:t>
            </a:r>
            <a:endParaRPr lang="en-US" sz="2200"/>
          </a:p>
        </p:txBody>
      </p:sp>
      <p:sp>
        <p:nvSpPr>
          <p:cNvPr id="7" name="Benefit card 1"/>
          <p:cNvSpPr/>
          <p:nvPr/>
        </p:nvSpPr>
        <p:spPr>
          <a:xfrm>
            <a:off x="731520" y="470916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Benefit icon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4846320"/>
            <a:ext cx="502920" cy="5029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22960" y="54406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 playback</a:t>
            </a:r>
            <a:endParaRPr lang="en-US" sz="1800"/>
          </a:p>
        </p:txBody>
      </p:sp>
      <p:sp>
        <p:nvSpPr>
          <p:cNvPr id="10" name="Benefit card 2"/>
          <p:cNvSpPr/>
          <p:nvPr/>
        </p:nvSpPr>
        <p:spPr>
          <a:xfrm>
            <a:off x="3520440" y="470916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Benefit icon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846320"/>
            <a:ext cx="502920" cy="5029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3611880" y="54406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Works on slow internet</a:t>
            </a:r>
            <a:endParaRPr lang="en-US" sz="1800"/>
          </a:p>
        </p:txBody>
      </p:sp>
      <p:sp>
        <p:nvSpPr>
          <p:cNvPr id="13" name="Benefit card 3"/>
          <p:cNvSpPr/>
          <p:nvPr/>
        </p:nvSpPr>
        <p:spPr>
          <a:xfrm>
            <a:off x="6309360" y="470916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Benefit icon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920" y="4846320"/>
            <a:ext cx="502920" cy="5029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400800" y="54406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app, two platforms</a:t>
            </a:r>
            <a:endParaRPr lang="en-US" sz="1800"/>
          </a:p>
        </p:txBody>
      </p:sp>
      <p:sp>
        <p:nvSpPr>
          <p:cNvPr id="16" name="Benefit card 4"/>
          <p:cNvSpPr/>
          <p:nvPr/>
        </p:nvSpPr>
        <p:spPr>
          <a:xfrm>
            <a:off x="9098280" y="470916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Benefit icon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9840" y="4846320"/>
            <a:ext cx="502920" cy="50292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9189720" y="54406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Saves storage space</a:t>
            </a:r>
            <a:endParaRPr 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S logo" descr="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640080" cy="1005840"/>
          </a:xfrm>
          <a:prstGeom prst="rect">
            <a:avLst/>
          </a:prstGeom>
        </p:spPr>
      </p:pic>
      <p:pic>
        <p:nvPicPr>
          <p:cNvPr id="3" name="SIMATS seal" descr="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28600"/>
            <a:ext cx="914400" cy="9144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743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AND OBJECTIVES</a:t>
            </a:r>
            <a:endParaRPr lang="en-US" sz="3600"/>
          </a:p>
        </p:txBody>
      </p:sp>
      <p:sp>
        <p:nvSpPr>
          <p:cNvPr id="5" name="Card Problem Statement"/>
          <p:cNvSpPr/>
          <p:nvPr/>
        </p:nvSpPr>
        <p:spPr>
          <a:xfrm>
            <a:off x="548640" y="146304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731520" y="15727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B4F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200"/>
          </a:p>
        </p:txBody>
      </p:sp>
      <p:sp>
        <p:nvSpPr>
          <p:cNvPr id="7" name="Text 3"/>
          <p:cNvSpPr txBox="1"/>
          <p:nvPr/>
        </p:nvSpPr>
        <p:spPr>
          <a:xfrm>
            <a:off x="731520" y="205740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 video files take a long time to load.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Videos keep buffering on slow internet.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 phones support different video formats.</a:t>
            </a:r>
            <a:endParaRPr lang="en-US" sz="2200"/>
          </a:p>
          <a:p>
            <a:pPr marL="342900" indent="-342900"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Building separate apps for Android and iOS costs more time.</a:t>
            </a:r>
            <a:endParaRPr lang="en-US" sz="2200"/>
          </a:p>
        </p:txBody>
      </p:sp>
      <p:sp>
        <p:nvSpPr>
          <p:cNvPr id="8" name="Card Objectives"/>
          <p:cNvSpPr/>
          <p:nvPr/>
        </p:nvSpPr>
        <p:spPr>
          <a:xfrm>
            <a:off x="6217920" y="146304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6400800" y="15727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E86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2200"/>
          </a:p>
        </p:txBody>
      </p:sp>
      <p:sp>
        <p:nvSpPr>
          <p:cNvPr id="10" name="Text 6"/>
          <p:cNvSpPr txBox="1"/>
          <p:nvPr/>
        </p:nvSpPr>
        <p:spPr>
          <a:xfrm>
            <a:off x="6400800" y="205740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one app that works on Android and iOS.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 video smoothly with automatic quality change.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Compress and convert uploaded videos on a server.</a:t>
            </a:r>
            <a:endParaRPr lang="en-US" sz="2200"/>
          </a:p>
          <a:p>
            <a:pPr marL="342900" indent="-342900"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users easy upload, search, play and download.</a:t>
            </a:r>
            <a:endParaRPr lang="en-US"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S logo" descr="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640080" cy="1005840"/>
          </a:xfrm>
          <a:prstGeom prst="rect">
            <a:avLst/>
          </a:prstGeom>
        </p:spPr>
      </p:pic>
      <p:pic>
        <p:nvPicPr>
          <p:cNvPr id="3" name="SIMATS seal" descr="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28600"/>
            <a:ext cx="914400" cy="9144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743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 AND PROPOSED SYSTEM</a:t>
            </a:r>
            <a:endParaRPr lang="en-US" sz="3600"/>
          </a:p>
        </p:txBody>
      </p:sp>
      <p:sp>
        <p:nvSpPr>
          <p:cNvPr id="5" name="Card Existing System"/>
          <p:cNvSpPr/>
          <p:nvPr/>
        </p:nvSpPr>
        <p:spPr>
          <a:xfrm>
            <a:off x="548640" y="146304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731520" y="15727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</a:t>
            </a:r>
            <a:endParaRPr lang="en-US" sz="2200"/>
          </a:p>
        </p:txBody>
      </p:sp>
      <p:sp>
        <p:nvSpPr>
          <p:cNvPr id="7" name="Text 3"/>
          <p:cNvSpPr txBox="1"/>
          <p:nvPr/>
        </p:nvSpPr>
        <p:spPr>
          <a:xfrm>
            <a:off x="731520" y="205740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 must download the full video before watching.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quality for everyone, even on slow internet.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Limited format support on some phones.</a:t>
            </a:r>
            <a:endParaRPr lang="en-US" sz="2200"/>
          </a:p>
          <a:p>
            <a:pPr marL="342900" indent="-342900"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Separate apps needed for Android and iOS.</a:t>
            </a:r>
            <a:endParaRPr lang="en-US" sz="2200"/>
          </a:p>
        </p:txBody>
      </p:sp>
      <p:sp>
        <p:nvSpPr>
          <p:cNvPr id="8" name="Card Proposed System"/>
          <p:cNvSpPr/>
          <p:nvPr/>
        </p:nvSpPr>
        <p:spPr>
          <a:xfrm>
            <a:off x="6217920" y="146304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6400800" y="15727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B4F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</a:t>
            </a:r>
            <a:endParaRPr lang="en-US" sz="2200"/>
          </a:p>
        </p:txBody>
      </p:sp>
      <p:sp>
        <p:nvSpPr>
          <p:cNvPr id="10" name="Text 6"/>
          <p:cNvSpPr txBox="1"/>
          <p:nvPr/>
        </p:nvSpPr>
        <p:spPr>
          <a:xfrm>
            <a:off x="6400800" y="205740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Videos play instantly while loading (streaming).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Quality changes automatically with internet speed.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Server converts videos to supported formats.</a:t>
            </a:r>
            <a:endParaRPr lang="en-US" sz="2200"/>
          </a:p>
          <a:p>
            <a:pPr marL="342900" indent="-342900"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cross-platform app for Android and iOS.</a:t>
            </a:r>
            <a:endParaRPr lang="en-US"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S logo" descr="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640080" cy="1005840"/>
          </a:xfrm>
          <a:prstGeom prst="rect">
            <a:avLst/>
          </a:prstGeom>
        </p:spPr>
      </p:pic>
      <p:pic>
        <p:nvPicPr>
          <p:cNvPr id="3" name="SIMATS seal" descr="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28600"/>
            <a:ext cx="914400" cy="9144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743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3600"/>
          </a:p>
        </p:txBody>
      </p:sp>
      <p:sp>
        <p:nvSpPr>
          <p:cNvPr id="5" name="Text 1"/>
          <p:cNvSpPr txBox="1"/>
          <p:nvPr/>
        </p:nvSpPr>
        <p:spPr>
          <a:xfrm>
            <a:off x="731520" y="1280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B4F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DIAGRAM</a:t>
            </a:r>
            <a:endParaRPr lang="en-US" sz="2000"/>
          </a:p>
        </p:txBody>
      </p:sp>
      <p:sp>
        <p:nvSpPr>
          <p:cNvPr id="6" name="Node Mobile App"/>
          <p:cNvSpPr/>
          <p:nvPr/>
        </p:nvSpPr>
        <p:spPr>
          <a:xfrm>
            <a:off x="685800" y="201168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0B4F9C"/>
          </a:solidFill>
          <a:ln w="19050">
            <a:solidFill>
              <a:srgbClr val="0B4F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con Mobile App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8740" y="2194560"/>
            <a:ext cx="640080" cy="6400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3152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 App</a:t>
            </a:r>
            <a:endParaRPr lang="en-US" sz="1800"/>
          </a:p>
        </p:txBody>
      </p:sp>
      <p:sp>
        <p:nvSpPr>
          <p:cNvPr id="9" name="Text 4"/>
          <p:cNvSpPr txBox="1"/>
          <p:nvPr/>
        </p:nvSpPr>
        <p:spPr>
          <a:xfrm>
            <a:off x="777240" y="3383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Android &amp; iOS</a:t>
            </a:r>
            <a:endParaRPr lang="en-US" sz="1400"/>
          </a:p>
        </p:txBody>
      </p:sp>
      <p:sp>
        <p:nvSpPr>
          <p:cNvPr id="10" name="Arrow 1"/>
          <p:cNvSpPr/>
          <p:nvPr/>
        </p:nvSpPr>
        <p:spPr>
          <a:xfrm>
            <a:off x="2679192" y="3108960"/>
            <a:ext cx="356616" cy="0"/>
          </a:xfrm>
          <a:prstGeom prst="line">
            <a:avLst/>
          </a:prstGeom>
          <a:noFill/>
          <a:ln w="38100">
            <a:solidFill>
              <a:srgbClr val="E860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Node Backend Server"/>
          <p:cNvSpPr/>
          <p:nvPr/>
        </p:nvSpPr>
        <p:spPr>
          <a:xfrm>
            <a:off x="3063240" y="201168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EAF2FB"/>
          </a:solidFill>
          <a:ln w="19050">
            <a:solidFill>
              <a:srgbClr val="0B4F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con Backend Server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6180" y="2194560"/>
            <a:ext cx="640080" cy="6400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10896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Server</a:t>
            </a:r>
            <a:endParaRPr lang="en-US" sz="1800"/>
          </a:p>
        </p:txBody>
      </p:sp>
      <p:sp>
        <p:nvSpPr>
          <p:cNvPr id="14" name="Text 8"/>
          <p:cNvSpPr txBox="1"/>
          <p:nvPr/>
        </p:nvSpPr>
        <p:spPr>
          <a:xfrm>
            <a:off x="3154680" y="3383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Login, upload, API</a:t>
            </a:r>
            <a:endParaRPr lang="en-US" sz="1400"/>
          </a:p>
        </p:txBody>
      </p:sp>
      <p:sp>
        <p:nvSpPr>
          <p:cNvPr id="15" name="Arrow 2"/>
          <p:cNvSpPr/>
          <p:nvPr/>
        </p:nvSpPr>
        <p:spPr>
          <a:xfrm>
            <a:off x="5056632" y="3108960"/>
            <a:ext cx="356616" cy="0"/>
          </a:xfrm>
          <a:prstGeom prst="line">
            <a:avLst/>
          </a:prstGeom>
          <a:noFill/>
          <a:ln w="38100">
            <a:solidFill>
              <a:srgbClr val="E860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Node Video Processing"/>
          <p:cNvSpPr/>
          <p:nvPr/>
        </p:nvSpPr>
        <p:spPr>
          <a:xfrm>
            <a:off x="5440680" y="201168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0B4F9C"/>
          </a:solidFill>
          <a:ln w="19050">
            <a:solidFill>
              <a:srgbClr val="0B4F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con Video Processing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3620" y="2194560"/>
            <a:ext cx="640080" cy="64008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48640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Video Processing</a:t>
            </a:r>
            <a:endParaRPr lang="en-US" sz="1800"/>
          </a:p>
        </p:txBody>
      </p:sp>
      <p:sp>
        <p:nvSpPr>
          <p:cNvPr id="19" name="Text 12"/>
          <p:cNvSpPr txBox="1"/>
          <p:nvPr/>
        </p:nvSpPr>
        <p:spPr>
          <a:xfrm>
            <a:off x="5532120" y="3383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Compress &amp; convert</a:t>
            </a:r>
            <a:endParaRPr lang="en-US" sz="1400"/>
          </a:p>
        </p:txBody>
      </p:sp>
      <p:sp>
        <p:nvSpPr>
          <p:cNvPr id="20" name="Arrow 3"/>
          <p:cNvSpPr/>
          <p:nvPr/>
        </p:nvSpPr>
        <p:spPr>
          <a:xfrm>
            <a:off x="7434072" y="3108960"/>
            <a:ext cx="356616" cy="0"/>
          </a:xfrm>
          <a:prstGeom prst="line">
            <a:avLst/>
          </a:prstGeom>
          <a:noFill/>
          <a:ln w="38100">
            <a:solidFill>
              <a:srgbClr val="E860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Node Cloud Storage"/>
          <p:cNvSpPr/>
          <p:nvPr/>
        </p:nvSpPr>
        <p:spPr>
          <a:xfrm>
            <a:off x="7818120" y="201168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EAF2FB"/>
          </a:solidFill>
          <a:ln w="19050">
            <a:solidFill>
              <a:srgbClr val="0B4F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con Cloud Storage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1060" y="2194560"/>
            <a:ext cx="640080" cy="64008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86384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Storage</a:t>
            </a:r>
            <a:endParaRPr lang="en-US" sz="1800"/>
          </a:p>
        </p:txBody>
      </p:sp>
      <p:sp>
        <p:nvSpPr>
          <p:cNvPr id="24" name="Text 16"/>
          <p:cNvSpPr txBox="1"/>
          <p:nvPr/>
        </p:nvSpPr>
        <p:spPr>
          <a:xfrm>
            <a:off x="7909560" y="3383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Stores all versions</a:t>
            </a:r>
            <a:endParaRPr lang="en-US" sz="1400"/>
          </a:p>
        </p:txBody>
      </p:sp>
      <p:sp>
        <p:nvSpPr>
          <p:cNvPr id="25" name="Arrow 4"/>
          <p:cNvSpPr/>
          <p:nvPr/>
        </p:nvSpPr>
        <p:spPr>
          <a:xfrm>
            <a:off x="9811512" y="3108960"/>
            <a:ext cx="356616" cy="0"/>
          </a:xfrm>
          <a:prstGeom prst="line">
            <a:avLst/>
          </a:prstGeom>
          <a:noFill/>
          <a:ln w="38100">
            <a:solidFill>
              <a:srgbClr val="E860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Node Streaming Player"/>
          <p:cNvSpPr/>
          <p:nvPr/>
        </p:nvSpPr>
        <p:spPr>
          <a:xfrm>
            <a:off x="10195560" y="201168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0B4F9C"/>
          </a:solidFill>
          <a:ln w="19050">
            <a:solidFill>
              <a:srgbClr val="0B4F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con Streaming Player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58500" y="2194560"/>
            <a:ext cx="640080" cy="64008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024128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Streaming Player</a:t>
            </a:r>
            <a:endParaRPr lang="en-US" sz="1800"/>
          </a:p>
        </p:txBody>
      </p:sp>
      <p:sp>
        <p:nvSpPr>
          <p:cNvPr id="29" name="Text 20"/>
          <p:cNvSpPr txBox="1"/>
          <p:nvPr/>
        </p:nvSpPr>
        <p:spPr>
          <a:xfrm>
            <a:off x="10287000" y="3383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Plays on the phone</a:t>
            </a:r>
            <a:endParaRPr lang="en-US" sz="1400"/>
          </a:p>
        </p:txBody>
      </p:sp>
      <p:sp>
        <p:nvSpPr>
          <p:cNvPr id="30" name="Text 21"/>
          <p:cNvSpPr txBox="1"/>
          <p:nvPr/>
        </p:nvSpPr>
        <p:spPr>
          <a:xfrm>
            <a:off x="731520" y="4526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B4F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IT WORKS</a:t>
            </a:r>
            <a:endParaRPr lang="en-US" sz="2000"/>
          </a:p>
        </p:txBody>
      </p:sp>
      <p:sp>
        <p:nvSpPr>
          <p:cNvPr id="31" name="Text 22"/>
          <p:cNvSpPr txBox="1"/>
          <p:nvPr/>
        </p:nvSpPr>
        <p:spPr>
          <a:xfrm>
            <a:off x="731520" y="493776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User uploads a video from the app.  2. Server compresses it and makes low, medium and high quality copies.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Copies are saved in cloud storage.  4. The player picks the best quality for the internet speed and streams it.</a:t>
            </a:r>
            <a:endParaRPr 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S logo" descr="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640080" cy="1005840"/>
          </a:xfrm>
          <a:prstGeom prst="rect">
            <a:avLst/>
          </a:prstGeom>
        </p:spPr>
      </p:pic>
      <p:pic>
        <p:nvPicPr>
          <p:cNvPr id="3" name="SIMATS seal" descr="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28600"/>
            <a:ext cx="914400" cy="9144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743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TECHNOLOGIES USED</a:t>
            </a:r>
            <a:endParaRPr lang="en-US" sz="3600"/>
          </a:p>
        </p:txBody>
      </p:sp>
      <p:sp>
        <p:nvSpPr>
          <p:cNvPr id="5" name="Tech card 1"/>
          <p:cNvSpPr/>
          <p:nvPr/>
        </p:nvSpPr>
        <p:spPr>
          <a:xfrm>
            <a:off x="640080" y="155448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ch circle 1"/>
          <p:cNvSpPr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rgbClr val="0B4F9C"/>
          </a:solidFill>
          <a:ln w="12700">
            <a:solidFill>
              <a:srgbClr val="0B4F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Tech icon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1965960"/>
            <a:ext cx="365760" cy="3657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6868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Flutter / React Native</a:t>
            </a:r>
            <a:endParaRPr lang="en-US" sz="2000"/>
          </a:p>
        </p:txBody>
      </p:sp>
      <p:sp>
        <p:nvSpPr>
          <p:cNvPr id="9" name="Text 4"/>
          <p:cNvSpPr txBox="1"/>
          <p:nvPr/>
        </p:nvSpPr>
        <p:spPr>
          <a:xfrm>
            <a:off x="868680" y="3063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code for Android and iOS</a:t>
            </a:r>
            <a:endParaRPr lang="en-US" sz="1600"/>
          </a:p>
        </p:txBody>
      </p:sp>
      <p:sp>
        <p:nvSpPr>
          <p:cNvPr id="10" name="Tech card 2"/>
          <p:cNvSpPr/>
          <p:nvPr/>
        </p:nvSpPr>
        <p:spPr>
          <a:xfrm>
            <a:off x="4389120" y="155448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ch circle 2"/>
          <p:cNvSpPr/>
          <p:nvPr/>
        </p:nvSpPr>
        <p:spPr>
          <a:xfrm>
            <a:off x="4617720" y="1783080"/>
            <a:ext cx="731520" cy="731520"/>
          </a:xfrm>
          <a:prstGeom prst="ellipse">
            <a:avLst/>
          </a:prstGeom>
          <a:solidFill>
            <a:srgbClr val="0B4F9C"/>
          </a:solidFill>
          <a:ln w="12700">
            <a:solidFill>
              <a:srgbClr val="0B4F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Tech icon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196596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61772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ExoPlayer &amp; AVPlayer</a:t>
            </a:r>
            <a:endParaRPr lang="en-US" sz="2000"/>
          </a:p>
        </p:txBody>
      </p:sp>
      <p:sp>
        <p:nvSpPr>
          <p:cNvPr id="14" name="Text 8"/>
          <p:cNvSpPr txBox="1"/>
          <p:nvPr/>
        </p:nvSpPr>
        <p:spPr>
          <a:xfrm>
            <a:off x="4617720" y="3063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Video players on Android and iOS</a:t>
            </a:r>
            <a:endParaRPr lang="en-US" sz="1600"/>
          </a:p>
        </p:txBody>
      </p:sp>
      <p:sp>
        <p:nvSpPr>
          <p:cNvPr id="15" name="Tech card 3"/>
          <p:cNvSpPr/>
          <p:nvPr/>
        </p:nvSpPr>
        <p:spPr>
          <a:xfrm>
            <a:off x="8138160" y="155448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ch circle 3"/>
          <p:cNvSpPr/>
          <p:nvPr/>
        </p:nvSpPr>
        <p:spPr>
          <a:xfrm>
            <a:off x="8366760" y="1783080"/>
            <a:ext cx="731520" cy="731520"/>
          </a:xfrm>
          <a:prstGeom prst="ellipse">
            <a:avLst/>
          </a:prstGeom>
          <a:solidFill>
            <a:srgbClr val="0B4F9C"/>
          </a:solidFill>
          <a:ln w="12700">
            <a:solidFill>
              <a:srgbClr val="0B4F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Tech icon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9640" y="1965960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36676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FFmpeg</a:t>
            </a:r>
            <a:endParaRPr lang="en-US" sz="2000"/>
          </a:p>
        </p:txBody>
      </p:sp>
      <p:sp>
        <p:nvSpPr>
          <p:cNvPr id="19" name="Text 12"/>
          <p:cNvSpPr txBox="1"/>
          <p:nvPr/>
        </p:nvSpPr>
        <p:spPr>
          <a:xfrm>
            <a:off x="8366760" y="3063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Compresses and converts videos</a:t>
            </a:r>
            <a:endParaRPr lang="en-US" sz="1600"/>
          </a:p>
        </p:txBody>
      </p:sp>
      <p:sp>
        <p:nvSpPr>
          <p:cNvPr id="20" name="Tech card 4"/>
          <p:cNvSpPr/>
          <p:nvPr/>
        </p:nvSpPr>
        <p:spPr>
          <a:xfrm>
            <a:off x="640080" y="402336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ch circle 4"/>
          <p:cNvSpPr/>
          <p:nvPr/>
        </p:nvSpPr>
        <p:spPr>
          <a:xfrm>
            <a:off x="868680" y="4251960"/>
            <a:ext cx="731520" cy="731520"/>
          </a:xfrm>
          <a:prstGeom prst="ellipse">
            <a:avLst/>
          </a:prstGeom>
          <a:solidFill>
            <a:srgbClr val="0B4F9C"/>
          </a:solidFill>
          <a:ln w="12700">
            <a:solidFill>
              <a:srgbClr val="0B4F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Tech icon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560" y="4434840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68680" y="5074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HLS Streaming</a:t>
            </a:r>
            <a:endParaRPr lang="en-US" sz="2000"/>
          </a:p>
        </p:txBody>
      </p:sp>
      <p:sp>
        <p:nvSpPr>
          <p:cNvPr id="24" name="Text 16"/>
          <p:cNvSpPr txBox="1"/>
          <p:nvPr/>
        </p:nvSpPr>
        <p:spPr>
          <a:xfrm>
            <a:off x="868680" y="5532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Splits video into small parts</a:t>
            </a:r>
            <a:endParaRPr lang="en-US" sz="1600"/>
          </a:p>
        </p:txBody>
      </p:sp>
      <p:sp>
        <p:nvSpPr>
          <p:cNvPr id="25" name="Tech card 5"/>
          <p:cNvSpPr/>
          <p:nvPr/>
        </p:nvSpPr>
        <p:spPr>
          <a:xfrm>
            <a:off x="4389120" y="402336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ch circle 5"/>
          <p:cNvSpPr/>
          <p:nvPr/>
        </p:nvSpPr>
        <p:spPr>
          <a:xfrm>
            <a:off x="4617720" y="4251960"/>
            <a:ext cx="731520" cy="731520"/>
          </a:xfrm>
          <a:prstGeom prst="ellipse">
            <a:avLst/>
          </a:prstGeom>
          <a:solidFill>
            <a:srgbClr val="0B4F9C"/>
          </a:solidFill>
          <a:ln w="12700">
            <a:solidFill>
              <a:srgbClr val="0B4F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Tech icon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4434840"/>
            <a:ext cx="365760" cy="36576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4617720" y="5074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Node.js Server</a:t>
            </a:r>
            <a:endParaRPr lang="en-US" sz="2000"/>
          </a:p>
        </p:txBody>
      </p:sp>
      <p:sp>
        <p:nvSpPr>
          <p:cNvPr id="29" name="Text 20"/>
          <p:cNvSpPr txBox="1"/>
          <p:nvPr/>
        </p:nvSpPr>
        <p:spPr>
          <a:xfrm>
            <a:off x="4617720" y="5532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Handles login and uploads</a:t>
            </a:r>
            <a:endParaRPr lang="en-US" sz="1600"/>
          </a:p>
        </p:txBody>
      </p:sp>
      <p:sp>
        <p:nvSpPr>
          <p:cNvPr id="30" name="Tech card 6"/>
          <p:cNvSpPr/>
          <p:nvPr/>
        </p:nvSpPr>
        <p:spPr>
          <a:xfrm>
            <a:off x="8138160" y="402336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ch circle 6"/>
          <p:cNvSpPr/>
          <p:nvPr/>
        </p:nvSpPr>
        <p:spPr>
          <a:xfrm>
            <a:off x="8366760" y="4251960"/>
            <a:ext cx="731520" cy="731520"/>
          </a:xfrm>
          <a:prstGeom prst="ellipse">
            <a:avLst/>
          </a:prstGeom>
          <a:solidFill>
            <a:srgbClr val="0B4F9C"/>
          </a:solidFill>
          <a:ln w="12700">
            <a:solidFill>
              <a:srgbClr val="0B4F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Tech icon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9640" y="4434840"/>
            <a:ext cx="365760" cy="36576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8366760" y="5074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Storage</a:t>
            </a:r>
            <a:endParaRPr lang="en-US" sz="2000"/>
          </a:p>
        </p:txBody>
      </p:sp>
      <p:sp>
        <p:nvSpPr>
          <p:cNvPr id="34" name="Text 24"/>
          <p:cNvSpPr txBox="1"/>
          <p:nvPr/>
        </p:nvSpPr>
        <p:spPr>
          <a:xfrm>
            <a:off x="8366760" y="5532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Keeps videos safely online</a:t>
            </a:r>
            <a:endParaRPr 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S logo" descr="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640080" cy="1005840"/>
          </a:xfrm>
          <a:prstGeom prst="rect">
            <a:avLst/>
          </a:prstGeom>
        </p:spPr>
      </p:pic>
      <p:pic>
        <p:nvPicPr>
          <p:cNvPr id="3" name="SIMATS seal" descr="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28600"/>
            <a:ext cx="914400" cy="9144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743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1: User Login &amp; Profile</a:t>
            </a:r>
            <a:endParaRPr lang="en-US" sz="3600"/>
          </a:p>
        </p:txBody>
      </p:sp>
      <p:sp>
        <p:nvSpPr>
          <p:cNvPr id="5" name="Text 1"/>
          <p:cNvSpPr txBox="1"/>
          <p:nvPr/>
        </p:nvSpPr>
        <p:spPr>
          <a:xfrm>
            <a:off x="731520" y="1463040"/>
            <a:ext cx="658368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module lets a user create an account and log in safely.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keeps each user’s details, watch history and favourite videos.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Passwords are stored in a protected (encrypted) form.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logged-in users can upload or download videos.</a:t>
            </a:r>
            <a:endParaRPr lang="en-US" sz="2200"/>
          </a:p>
        </p:txBody>
      </p:sp>
      <p:sp>
        <p:nvSpPr>
          <p:cNvPr id="6" name="Key functions card"/>
          <p:cNvSpPr/>
          <p:nvPr/>
        </p:nvSpPr>
        <p:spPr>
          <a:xfrm>
            <a:off x="7680960" y="1463040"/>
            <a:ext cx="4023360" cy="4754880"/>
          </a:xfrm>
          <a:prstGeom prst="roundRect">
            <a:avLst>
              <a:gd name="adj" fmla="val 2727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Module circle"/>
          <p:cNvSpPr/>
          <p:nvPr/>
        </p:nvSpPr>
        <p:spPr>
          <a:xfrm>
            <a:off x="7909560" y="1691640"/>
            <a:ext cx="731520" cy="731520"/>
          </a:xfrm>
          <a:prstGeom prst="ellipse">
            <a:avLst/>
          </a:prstGeom>
          <a:solidFill>
            <a:srgbClr val="E8602C"/>
          </a:solidFill>
          <a:ln w="12700">
            <a:solidFill>
              <a:srgbClr val="E86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Module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874520"/>
            <a:ext cx="365760" cy="3657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778240" y="1691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B4F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Functions</a:t>
            </a:r>
            <a:endParaRPr lang="en-US" sz="2200"/>
          </a:p>
        </p:txBody>
      </p:sp>
      <p:sp>
        <p:nvSpPr>
          <p:cNvPr id="10" name="Text 5"/>
          <p:cNvSpPr txBox="1"/>
          <p:nvPr/>
        </p:nvSpPr>
        <p:spPr>
          <a:xfrm>
            <a:off x="7909560" y="2651760"/>
            <a:ext cx="3611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0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 up and log in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0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Stores user profile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0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Saves watch history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0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Keeps data secure</a:t>
            </a:r>
            <a:endParaRPr 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S logo" descr="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640080" cy="1005840"/>
          </a:xfrm>
          <a:prstGeom prst="rect">
            <a:avLst/>
          </a:prstGeom>
        </p:spPr>
      </p:pic>
      <p:pic>
        <p:nvPicPr>
          <p:cNvPr id="3" name="SIMATS seal" descr="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28600"/>
            <a:ext cx="914400" cy="9144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743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2: Video Streaming &amp; Playback</a:t>
            </a:r>
            <a:endParaRPr lang="en-US" sz="3600"/>
          </a:p>
        </p:txBody>
      </p:sp>
      <p:sp>
        <p:nvSpPr>
          <p:cNvPr id="5" name="Text 1"/>
          <p:cNvSpPr txBox="1"/>
          <p:nvPr/>
        </p:nvSpPr>
        <p:spPr>
          <a:xfrm>
            <a:off x="731520" y="1463040"/>
            <a:ext cx="658368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module plays videos on the phone while they load.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video is cut into small pieces (HLS) so playback starts quickly.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checks internet speed and picks low, medium or high quality automatically.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works the same way on Android and iOS.</a:t>
            </a:r>
            <a:endParaRPr lang="en-US" sz="2200"/>
          </a:p>
        </p:txBody>
      </p:sp>
      <p:sp>
        <p:nvSpPr>
          <p:cNvPr id="6" name="Key functions card"/>
          <p:cNvSpPr/>
          <p:nvPr/>
        </p:nvSpPr>
        <p:spPr>
          <a:xfrm>
            <a:off x="7680960" y="1463040"/>
            <a:ext cx="4023360" cy="4754880"/>
          </a:xfrm>
          <a:prstGeom prst="roundRect">
            <a:avLst>
              <a:gd name="adj" fmla="val 2727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Module circle"/>
          <p:cNvSpPr/>
          <p:nvPr/>
        </p:nvSpPr>
        <p:spPr>
          <a:xfrm>
            <a:off x="7909560" y="1691640"/>
            <a:ext cx="731520" cy="731520"/>
          </a:xfrm>
          <a:prstGeom prst="ellipse">
            <a:avLst/>
          </a:prstGeom>
          <a:solidFill>
            <a:srgbClr val="E8602C"/>
          </a:solidFill>
          <a:ln w="12700">
            <a:solidFill>
              <a:srgbClr val="E86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Module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874520"/>
            <a:ext cx="365760" cy="3657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778240" y="1691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B4F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Functions</a:t>
            </a:r>
            <a:endParaRPr lang="en-US" sz="2200"/>
          </a:p>
        </p:txBody>
      </p:sp>
      <p:sp>
        <p:nvSpPr>
          <p:cNvPr id="10" name="Text 5"/>
          <p:cNvSpPr txBox="1"/>
          <p:nvPr/>
        </p:nvSpPr>
        <p:spPr>
          <a:xfrm>
            <a:off x="7909560" y="2651760"/>
            <a:ext cx="3611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0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Play, pause and seek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0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 quality change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0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 start, less buffering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0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Full-screen mode</a:t>
            </a:r>
            <a:endParaRPr 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S logo" descr="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640080" cy="1005840"/>
          </a:xfrm>
          <a:prstGeom prst="rect">
            <a:avLst/>
          </a:prstGeom>
        </p:spPr>
      </p:pic>
      <p:pic>
        <p:nvPicPr>
          <p:cNvPr id="3" name="SIMATS seal" descr="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28600"/>
            <a:ext cx="914400" cy="9144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743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3: Video Processing</a:t>
            </a:r>
            <a:endParaRPr lang="en-US" sz="3600"/>
          </a:p>
        </p:txBody>
      </p:sp>
      <p:sp>
        <p:nvSpPr>
          <p:cNvPr id="5" name="Text 1"/>
          <p:cNvSpPr txBox="1"/>
          <p:nvPr/>
        </p:nvSpPr>
        <p:spPr>
          <a:xfrm>
            <a:off x="731520" y="1463040"/>
            <a:ext cx="658368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module works on the server after a user uploads a video.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compresses the video so it takes less space and loads faster.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converts the video into formats that phones can play.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creates a small preview image (thumbnail) for each video.</a:t>
            </a:r>
            <a:endParaRPr lang="en-US" sz="2200"/>
          </a:p>
        </p:txBody>
      </p:sp>
      <p:sp>
        <p:nvSpPr>
          <p:cNvPr id="6" name="Key functions card"/>
          <p:cNvSpPr/>
          <p:nvPr/>
        </p:nvSpPr>
        <p:spPr>
          <a:xfrm>
            <a:off x="7680960" y="1463040"/>
            <a:ext cx="4023360" cy="4754880"/>
          </a:xfrm>
          <a:prstGeom prst="roundRect">
            <a:avLst>
              <a:gd name="adj" fmla="val 2727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Module circle"/>
          <p:cNvSpPr/>
          <p:nvPr/>
        </p:nvSpPr>
        <p:spPr>
          <a:xfrm>
            <a:off x="7909560" y="1691640"/>
            <a:ext cx="731520" cy="731520"/>
          </a:xfrm>
          <a:prstGeom prst="ellipse">
            <a:avLst/>
          </a:prstGeom>
          <a:solidFill>
            <a:srgbClr val="E8602C"/>
          </a:solidFill>
          <a:ln w="12700">
            <a:solidFill>
              <a:srgbClr val="E86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Module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874520"/>
            <a:ext cx="365760" cy="3657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778240" y="1691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B4F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Functions</a:t>
            </a:r>
            <a:endParaRPr lang="en-US" sz="2200"/>
          </a:p>
        </p:txBody>
      </p:sp>
      <p:sp>
        <p:nvSpPr>
          <p:cNvPr id="10" name="Text 5"/>
          <p:cNvSpPr txBox="1"/>
          <p:nvPr/>
        </p:nvSpPr>
        <p:spPr>
          <a:xfrm>
            <a:off x="7909560" y="2651760"/>
            <a:ext cx="3611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0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Compress video (FFmpeg)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0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Convert format (MP4, HLS)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0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Make 3 quality versions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0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 thumbnails</a:t>
            </a:r>
            <a:endParaRPr 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S logo" descr="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640080" cy="1005840"/>
          </a:xfrm>
          <a:prstGeom prst="rect">
            <a:avLst/>
          </a:prstGeom>
        </p:spPr>
      </p:pic>
      <p:pic>
        <p:nvPicPr>
          <p:cNvPr id="3" name="SIMATS seal" descr="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28600"/>
            <a:ext cx="914400" cy="9144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743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4: Search, Download &amp; Notifications</a:t>
            </a:r>
            <a:endParaRPr lang="en-US" sz="3600"/>
          </a:p>
        </p:txBody>
      </p:sp>
      <p:sp>
        <p:nvSpPr>
          <p:cNvPr id="5" name="Text 1"/>
          <p:cNvSpPr txBox="1"/>
          <p:nvPr/>
        </p:nvSpPr>
        <p:spPr>
          <a:xfrm>
            <a:off x="731520" y="1463040"/>
            <a:ext cx="658368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module helps users find and manage their videos.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 can search by title and save videos in playlists.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Videos can be downloaded to watch offline.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app sends a message when an upload is ready to watch.</a:t>
            </a:r>
            <a:endParaRPr lang="en-US" sz="2200"/>
          </a:p>
        </p:txBody>
      </p:sp>
      <p:sp>
        <p:nvSpPr>
          <p:cNvPr id="6" name="Key functions card"/>
          <p:cNvSpPr/>
          <p:nvPr/>
        </p:nvSpPr>
        <p:spPr>
          <a:xfrm>
            <a:off x="7680960" y="1463040"/>
            <a:ext cx="4023360" cy="4754880"/>
          </a:xfrm>
          <a:prstGeom prst="roundRect">
            <a:avLst>
              <a:gd name="adj" fmla="val 2727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Module circle"/>
          <p:cNvSpPr/>
          <p:nvPr/>
        </p:nvSpPr>
        <p:spPr>
          <a:xfrm>
            <a:off x="7909560" y="1691640"/>
            <a:ext cx="731520" cy="731520"/>
          </a:xfrm>
          <a:prstGeom prst="ellipse">
            <a:avLst/>
          </a:prstGeom>
          <a:solidFill>
            <a:srgbClr val="E8602C"/>
          </a:solidFill>
          <a:ln w="12700">
            <a:solidFill>
              <a:srgbClr val="E86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Module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874520"/>
            <a:ext cx="365760" cy="3657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778240" y="1691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B4F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Functions</a:t>
            </a:r>
            <a:endParaRPr lang="en-US" sz="2200"/>
          </a:p>
        </p:txBody>
      </p:sp>
      <p:sp>
        <p:nvSpPr>
          <p:cNvPr id="10" name="Text 5"/>
          <p:cNvSpPr txBox="1"/>
          <p:nvPr/>
        </p:nvSpPr>
        <p:spPr>
          <a:xfrm>
            <a:off x="7909560" y="2651760"/>
            <a:ext cx="3611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0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 by title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0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 playlists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0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Offline download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0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Upload-complete alerts</a:t>
            </a:r>
            <a:endParaRPr 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S logo" descr="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640080" cy="1005840"/>
          </a:xfrm>
          <a:prstGeom prst="rect">
            <a:avLst/>
          </a:prstGeom>
        </p:spPr>
      </p:pic>
      <p:pic>
        <p:nvPicPr>
          <p:cNvPr id="3" name="SIMATS seal" descr="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28600"/>
            <a:ext cx="914400" cy="9144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743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STANDARDS</a:t>
            </a:r>
            <a:endParaRPr lang="en-US" sz="3600"/>
          </a:p>
        </p:txBody>
      </p:sp>
      <p:sp>
        <p:nvSpPr>
          <p:cNvPr id="5" name="IEEE row 1"/>
          <p:cNvSpPr/>
          <p:nvPr/>
        </p:nvSpPr>
        <p:spPr>
          <a:xfrm>
            <a:off x="731520" y="150876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914400" y="15087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B4F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Wireless Communication</a:t>
            </a:r>
            <a:endParaRPr lang="en-US" sz="2000"/>
          </a:p>
        </p:txBody>
      </p:sp>
      <p:sp>
        <p:nvSpPr>
          <p:cNvPr id="7" name="Text 3"/>
          <p:cNvSpPr txBox="1"/>
          <p:nvPr/>
        </p:nvSpPr>
        <p:spPr>
          <a:xfrm>
            <a:off x="4572000" y="15087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802.11 – Wi-Fi, used to stream video over wireless networks.</a:t>
            </a:r>
            <a:endParaRPr lang="en-US" sz="1800"/>
          </a:p>
        </p:txBody>
      </p:sp>
      <p:sp>
        <p:nvSpPr>
          <p:cNvPr id="8" name="IEEE row 2"/>
          <p:cNvSpPr/>
          <p:nvPr/>
        </p:nvSpPr>
        <p:spPr>
          <a:xfrm>
            <a:off x="731520" y="260604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914400" y="26060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B4F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Audio &amp; Video Coding</a:t>
            </a:r>
            <a:endParaRPr lang="en-US" sz="2000"/>
          </a:p>
        </p:txBody>
      </p:sp>
      <p:sp>
        <p:nvSpPr>
          <p:cNvPr id="10" name="Text 6"/>
          <p:cNvSpPr txBox="1"/>
          <p:nvPr/>
        </p:nvSpPr>
        <p:spPr>
          <a:xfrm>
            <a:off x="4572000" y="26060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1857 – Standard for efficient audio and video compression.</a:t>
            </a:r>
            <a:endParaRPr lang="en-US" sz="1800"/>
          </a:p>
        </p:txBody>
      </p:sp>
      <p:sp>
        <p:nvSpPr>
          <p:cNvPr id="11" name="IEEE row 3"/>
          <p:cNvSpPr/>
          <p:nvPr/>
        </p:nvSpPr>
        <p:spPr>
          <a:xfrm>
            <a:off x="731520" y="370332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914400" y="3703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B4F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Software Engineering</a:t>
            </a:r>
            <a:endParaRPr lang="en-US" sz="2000"/>
          </a:p>
        </p:txBody>
      </p:sp>
      <p:sp>
        <p:nvSpPr>
          <p:cNvPr id="13" name="Text 9"/>
          <p:cNvSpPr txBox="1"/>
          <p:nvPr/>
        </p:nvSpPr>
        <p:spPr>
          <a:xfrm>
            <a:off x="4572000" y="37033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12207 – Software life cycle processes used to plan and build the app.</a:t>
            </a:r>
            <a:endParaRPr lang="en-US" sz="1800"/>
          </a:p>
        </p:txBody>
      </p:sp>
      <p:sp>
        <p:nvSpPr>
          <p:cNvPr id="14" name="IEEE row 4"/>
          <p:cNvSpPr/>
          <p:nvPr/>
        </p:nvSpPr>
        <p:spPr>
          <a:xfrm>
            <a:off x="731520" y="480060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914400" y="48006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B4F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Requirements</a:t>
            </a:r>
            <a:endParaRPr lang="en-US" sz="2000"/>
          </a:p>
        </p:txBody>
      </p:sp>
      <p:sp>
        <p:nvSpPr>
          <p:cNvPr id="16" name="Text 12"/>
          <p:cNvSpPr txBox="1"/>
          <p:nvPr/>
        </p:nvSpPr>
        <p:spPr>
          <a:xfrm>
            <a:off x="4572000" y="480060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29148 – Guidelines for writing clear software requirements.</a:t>
            </a:r>
            <a:endParaRPr lang="en-US" sz="1800"/>
          </a:p>
        </p:txBody>
      </p:sp>
      <p:sp>
        <p:nvSpPr>
          <p:cNvPr id="17" name="Text 13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Industry formats such as H.264 (MP4) and HLS are also used for streaming.</a:t>
            </a:r>
            <a:endParaRPr lang="en-US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S logo" descr="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640080" cy="1005840"/>
          </a:xfrm>
          <a:prstGeom prst="rect">
            <a:avLst/>
          </a:prstGeom>
        </p:spPr>
      </p:pic>
      <p:pic>
        <p:nvPicPr>
          <p:cNvPr id="3" name="SIMATS seal" descr="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28600"/>
            <a:ext cx="914400" cy="9144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743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SDG CONTRIBUTION</a:t>
            </a:r>
            <a:endParaRPr lang="en-US" sz="3600"/>
          </a:p>
        </p:txBody>
      </p:sp>
      <p:sp>
        <p:nvSpPr>
          <p:cNvPr id="5" name="SDG card 1"/>
          <p:cNvSpPr/>
          <p:nvPr/>
        </p:nvSpPr>
        <p:spPr>
          <a:xfrm>
            <a:off x="640080" y="155448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DG circle 1"/>
          <p:cNvSpPr/>
          <p:nvPr/>
        </p:nvSpPr>
        <p:spPr>
          <a:xfrm>
            <a:off x="1920240" y="1783080"/>
            <a:ext cx="960120" cy="960120"/>
          </a:xfrm>
          <a:prstGeom prst="ellipse">
            <a:avLst/>
          </a:prstGeom>
          <a:solidFill>
            <a:srgbClr val="0B4F9C"/>
          </a:solidFill>
          <a:ln w="12700">
            <a:solidFill>
              <a:srgbClr val="0B4F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SDG icon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6272" y="2039112"/>
            <a:ext cx="457200" cy="4572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68680" y="29260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SDG 4 – Quality Education</a:t>
            </a:r>
            <a:endParaRPr lang="en-US" sz="2000"/>
          </a:p>
        </p:txBody>
      </p:sp>
      <p:sp>
        <p:nvSpPr>
          <p:cNvPr id="9" name="Text 4"/>
          <p:cNvSpPr txBox="1"/>
          <p:nvPr/>
        </p:nvSpPr>
        <p:spPr>
          <a:xfrm>
            <a:off x="868680" y="38862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Students can watch lectures and learning videos anytime, even on slow internet.</a:t>
            </a:r>
            <a:endParaRPr lang="en-US" sz="1800"/>
          </a:p>
        </p:txBody>
      </p:sp>
      <p:sp>
        <p:nvSpPr>
          <p:cNvPr id="10" name="SDG card 2"/>
          <p:cNvSpPr/>
          <p:nvPr/>
        </p:nvSpPr>
        <p:spPr>
          <a:xfrm>
            <a:off x="4389120" y="155448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DG circle 2"/>
          <p:cNvSpPr/>
          <p:nvPr/>
        </p:nvSpPr>
        <p:spPr>
          <a:xfrm>
            <a:off x="5669280" y="1783080"/>
            <a:ext cx="960120" cy="960120"/>
          </a:xfrm>
          <a:prstGeom prst="ellipse">
            <a:avLst/>
          </a:prstGeom>
          <a:solidFill>
            <a:srgbClr val="E8602C"/>
          </a:solidFill>
          <a:ln w="12700">
            <a:solidFill>
              <a:srgbClr val="0B4F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SDG icon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5312" y="2039112"/>
            <a:ext cx="457200" cy="4572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617720" y="29260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SDG 9 – Industry, Innovation and Infrastructure</a:t>
            </a:r>
            <a:endParaRPr lang="en-US" sz="2000"/>
          </a:p>
        </p:txBody>
      </p:sp>
      <p:sp>
        <p:nvSpPr>
          <p:cNvPr id="14" name="Text 8"/>
          <p:cNvSpPr txBox="1"/>
          <p:nvPr/>
        </p:nvSpPr>
        <p:spPr>
          <a:xfrm>
            <a:off x="4617720" y="38862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Uses modern cloud and mobile technology to build a smart media platform.</a:t>
            </a:r>
            <a:endParaRPr lang="en-US" sz="1800"/>
          </a:p>
        </p:txBody>
      </p:sp>
      <p:sp>
        <p:nvSpPr>
          <p:cNvPr id="15" name="SDG card 3"/>
          <p:cNvSpPr/>
          <p:nvPr/>
        </p:nvSpPr>
        <p:spPr>
          <a:xfrm>
            <a:off x="8138160" y="155448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EAF2FB"/>
          </a:solidFill>
          <a:ln w="12700">
            <a:solidFill>
              <a:srgbClr val="C9D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DG circle 3"/>
          <p:cNvSpPr/>
          <p:nvPr/>
        </p:nvSpPr>
        <p:spPr>
          <a:xfrm>
            <a:off x="9418320" y="1783080"/>
            <a:ext cx="960120" cy="960120"/>
          </a:xfrm>
          <a:prstGeom prst="ellipse">
            <a:avLst/>
          </a:prstGeom>
          <a:solidFill>
            <a:srgbClr val="0B4F9C"/>
          </a:solidFill>
          <a:ln w="12700">
            <a:solidFill>
              <a:srgbClr val="0B4F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SDG icon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4352" y="2039112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366760" y="29260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SDG 10 – Reduced Inequalities</a:t>
            </a:r>
            <a:endParaRPr lang="en-US" sz="2000"/>
          </a:p>
        </p:txBody>
      </p:sp>
      <p:sp>
        <p:nvSpPr>
          <p:cNvPr id="19" name="Text 12"/>
          <p:cNvSpPr txBox="1"/>
          <p:nvPr/>
        </p:nvSpPr>
        <p:spPr>
          <a:xfrm>
            <a:off x="8366760" y="38862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Low-quality streaming lets people with weak internet access the same content.</a:t>
            </a:r>
            <a:endParaRPr 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S logo" descr="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640080" cy="1005840"/>
          </a:xfrm>
          <a:prstGeom prst="rect">
            <a:avLst/>
          </a:prstGeom>
        </p:spPr>
      </p:pic>
      <p:pic>
        <p:nvPicPr>
          <p:cNvPr id="3" name="SIMATS seal" descr="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28600"/>
            <a:ext cx="914400" cy="9144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743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3600"/>
          </a:p>
        </p:txBody>
      </p:sp>
      <p:sp>
        <p:nvSpPr>
          <p:cNvPr id="5" name="Text 1"/>
          <p:cNvSpPr txBox="1"/>
          <p:nvPr/>
        </p:nvSpPr>
        <p:spPr>
          <a:xfrm>
            <a:off x="731520" y="1554480"/>
            <a:ext cx="786384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app streams videos smoothly on both Android and iOS.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Video processing makes files smaller and compatible with every phone.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 quality change reduces buffering on slow internet.</a:t>
            </a:r>
            <a:endParaRPr lang="en-US" sz="220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cross-platform app saves development time and cost.</a:t>
            </a:r>
            <a:endParaRPr lang="en-US" sz="2200"/>
          </a:p>
        </p:txBody>
      </p:sp>
      <p:sp>
        <p:nvSpPr>
          <p:cNvPr id="6" name="Check circle"/>
          <p:cNvSpPr/>
          <p:nvPr/>
        </p:nvSpPr>
        <p:spPr>
          <a:xfrm>
            <a:off x="9052560" y="2194560"/>
            <a:ext cx="2560320" cy="2560320"/>
          </a:xfrm>
          <a:prstGeom prst="ellipse">
            <a:avLst/>
          </a:prstGeom>
          <a:solidFill>
            <a:srgbClr val="0B4F9C"/>
          </a:solidFill>
          <a:ln w="12700">
            <a:solidFill>
              <a:srgbClr val="0B4F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Check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0" y="2926080"/>
            <a:ext cx="1097280" cy="10972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686800" y="4937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E86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Smooth • Fast • Simple</a:t>
            </a:r>
            <a:endParaRPr lang="en-US"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S logo" descr="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640080" cy="1005840"/>
          </a:xfrm>
          <a:prstGeom prst="rect">
            <a:avLst/>
          </a:prstGeom>
        </p:spPr>
      </p:pic>
      <p:pic>
        <p:nvPicPr>
          <p:cNvPr id="3" name="SIMATS seal" descr="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28600"/>
            <a:ext cx="914400" cy="9144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280160" y="2743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600"/>
          </a:p>
        </p:txBody>
      </p:sp>
      <p:sp>
        <p:nvSpPr>
          <p:cNvPr id="5" name="Text 1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buSzPct val="100000"/>
              <a:buChar char="■"/>
            </a:pPr>
            <a:r>
              <a:rPr lang="en-US" sz="1800" b="1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Android Developers – Media3 / ExoPlayer documentation.</a:t>
            </a:r>
            <a:endParaRPr lang="en-US" sz="1800"/>
          </a:p>
          <a:p>
            <a:pPr marL="0" indent="0">
              <a:spcAft>
                <a:spcPts val="1000"/>
              </a:spcAft>
              <a:buNone/>
            </a:pPr>
            <a:r>
              <a:rPr lang="en-US" sz="1800">
                <a:solidFill>
                  <a:srgbClr val="0B4F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developer.android.com/media/media3</a:t>
            </a:r>
            <a:endParaRPr lang="en-US" sz="1800"/>
          </a:p>
          <a:p>
            <a:pPr marL="342900" indent="-342900">
              <a:buSzPct val="100000"/>
              <a:buChar char="■"/>
            </a:pPr>
            <a:r>
              <a:rPr lang="en-US" sz="1800" b="1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Apple Developer – HTTP Live Streaming (HLS) documentation.</a:t>
            </a:r>
            <a:endParaRPr lang="en-US" sz="1800"/>
          </a:p>
          <a:p>
            <a:pPr marL="0" indent="0">
              <a:spcAft>
                <a:spcPts val="1000"/>
              </a:spcAft>
              <a:buNone/>
            </a:pPr>
            <a:r>
              <a:rPr lang="en-US" sz="1800">
                <a:solidFill>
                  <a:srgbClr val="0B4F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developer.apple.com/streaming</a:t>
            </a:r>
            <a:endParaRPr lang="en-US" sz="1800"/>
          </a:p>
          <a:p>
            <a:pPr marL="342900" indent="-342900">
              <a:buSzPct val="100000"/>
              <a:buChar char="■"/>
            </a:pPr>
            <a:r>
              <a:rPr lang="en-US" sz="1800" b="1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FFmpeg – Official documentation for video conversion and compression.</a:t>
            </a:r>
            <a:endParaRPr lang="en-US" sz="1800"/>
          </a:p>
          <a:p>
            <a:pPr marL="0" indent="0">
              <a:spcAft>
                <a:spcPts val="1000"/>
              </a:spcAft>
              <a:buNone/>
            </a:pPr>
            <a:r>
              <a:rPr lang="en-US" sz="1800">
                <a:solidFill>
                  <a:srgbClr val="0B4F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ffmpeg.org/documentation.html</a:t>
            </a:r>
            <a:endParaRPr lang="en-US" sz="1800"/>
          </a:p>
          <a:p>
            <a:pPr marL="342900" indent="-342900">
              <a:buSzPct val="100000"/>
              <a:buChar char="■"/>
            </a:pPr>
            <a:r>
              <a:rPr lang="en-US" sz="1800" b="1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Flutter – Official documentation for cross-platform app development.</a:t>
            </a:r>
            <a:endParaRPr lang="en-US" sz="1800"/>
          </a:p>
          <a:p>
            <a:pPr marL="0" indent="0">
              <a:spcAft>
                <a:spcPts val="1000"/>
              </a:spcAft>
              <a:buNone/>
            </a:pPr>
            <a:r>
              <a:rPr lang="en-US" sz="1800">
                <a:solidFill>
                  <a:srgbClr val="0B4F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docs.flutter.dev</a:t>
            </a:r>
            <a:endParaRPr lang="en-US" sz="1800"/>
          </a:p>
          <a:p>
            <a:pPr marL="342900" indent="-342900">
              <a:buSzPct val="100000"/>
              <a:buChar char="■"/>
            </a:pPr>
            <a:r>
              <a:rPr lang="en-US" sz="1800" b="1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Xplore – IEEE 802.11, 1857 and 12207 standards.</a:t>
            </a:r>
            <a:endParaRPr lang="en-US" sz="1800"/>
          </a:p>
          <a:p>
            <a:pPr marL="0" indent="0">
              <a:spcAft>
                <a:spcPts val="1000"/>
              </a:spcAft>
              <a:buNone/>
            </a:pPr>
            <a:r>
              <a:rPr lang="en-US" sz="1800">
                <a:solidFill>
                  <a:srgbClr val="0B4F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ieeexplore.ieee.org</a:t>
            </a:r>
            <a:endParaRPr lang="en-US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S logo" descr="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640080" cy="1005840"/>
          </a:xfrm>
          <a:prstGeom prst="rect">
            <a:avLst/>
          </a:prstGeom>
        </p:spPr>
      </p:pic>
      <p:pic>
        <p:nvPicPr>
          <p:cNvPr id="3" name="SIMATS seal" descr="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28600"/>
            <a:ext cx="914400" cy="9144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6600"/>
          </a:p>
        </p:txBody>
      </p:sp>
      <p:sp>
        <p:nvSpPr>
          <p:cNvPr id="5" name="Text 1"/>
          <p:cNvSpPr txBox="1"/>
          <p:nvPr/>
        </p:nvSpPr>
        <p:spPr>
          <a:xfrm>
            <a:off x="914400" y="374904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F8C9B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Any questions?</a:t>
            </a:r>
            <a:endParaRPr lang="en-US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Multimedia Streaming &amp; Video Processing App</dc:title>
  <dc:subject>PptxGenJS Presentation</dc:subject>
  <dc:creator>PptxGenJS</dc:creator>
  <cp:lastModifiedBy>Bharani RP</cp:lastModifiedBy>
  <cp:revision>2</cp:revision>
  <dcterms:created xsi:type="dcterms:W3CDTF">2026-10-26T15:40:35Z</dcterms:created>
  <dcterms:modified xsi:type="dcterms:W3CDTF">2026-10-27T02:14:07Z</dcterms:modified>
</cp:coreProperties>
</file>